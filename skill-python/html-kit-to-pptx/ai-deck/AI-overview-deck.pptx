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graphic1.svg" ContentType="image/svg+xml"/>
  <Override PartName="/ppt/media/graphic2.svg" ContentType="image/svg+xml"/>
  <Override PartName="/ppt/media/graphic3.svg" ContentType="image/svg+xml"/>
  <Override PartName="/ppt/media/graphic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10분 발표 기준. 4·5장에서 원리, 6장에서 근거, 8·9장에서 실행을 다룬다.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graphic1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graphic2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graphic3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graphic4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8200" y="580263"/>
            <a:ext cx="66675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20">
                <a:solidFill>
                  <a:srgbClr val="0066CC"/>
                </a:solidFill>
                <a:latin typeface="Arial"/>
                <a:ea typeface="Malgun Gothic"/>
                <a:cs typeface="Arial"/>
              </a:rPr>
              <a:t>AI BRIEFING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1684020"/>
            <a:ext cx="9525000" cy="198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550"/>
              </a:lnSpc>
              <a:spcBef>
                <a:spcPts val="0"/>
              </a:spcBef>
              <a:spcAft>
                <a:spcPts val="0"/>
              </a:spcAft>
            </a:pPr>
            <a:r>
              <a:rPr sz="4500" b="1" spc="-105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AI, 무엇이 달라졌고</a:t>
            </a:r>
          </a:p>
          <a:p>
            <a:pPr algn="l">
              <a:lnSpc>
                <a:spcPts val="5550"/>
              </a:lnSpc>
              <a:spcBef>
                <a:spcPts val="0"/>
              </a:spcBef>
              <a:spcAft>
                <a:spcPts val="0"/>
              </a:spcAft>
            </a:pPr>
            <a:r>
              <a:rPr sz="4500" b="1" spc="-105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무엇을 준비해야 하나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3279267"/>
            <a:ext cx="85725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5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기술의 변화, 실제 효과, 그리고 도입의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5257800"/>
            <a:ext cx="1143000" cy="28575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5626418"/>
            <a:ext cx="6667500" cy="352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일반 비즈니스 청중용 개요 · 10장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5893118"/>
            <a:ext cx="6667500" cy="352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수치는 공개된 실증연구에서 인용 (10장 출처 참조)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8200" y="580263"/>
            <a:ext cx="66675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20">
                <a:solidFill>
                  <a:srgbClr val="0066CC"/>
                </a:solidFill>
                <a:latin typeface="Arial"/>
                <a:ea typeface="Malgun Gothic"/>
                <a:cs typeface="Arial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803148"/>
            <a:ext cx="1051560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-75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오늘 다루는 것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1600200"/>
            <a:ext cx="533400" cy="28575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2022920"/>
            <a:ext cx="57150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0066CC"/>
                </a:solidFill>
                <a:latin typeface="Arial"/>
                <a:ea typeface="Malgun Gothic"/>
                <a:cs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43050" y="1993392"/>
            <a:ext cx="8572500" cy="552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무엇이 달라졌나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43050" y="2357247"/>
            <a:ext cx="8572500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규칙을 쓰던 시대에서 생성하는 시대로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38200" y="2733675"/>
            <a:ext cx="10515600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38200" y="2937320"/>
            <a:ext cx="57150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0066CC"/>
                </a:solidFill>
                <a:latin typeface="Arial"/>
                <a:ea typeface="Malgun Gothic"/>
                <a:cs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43050" y="2907792"/>
            <a:ext cx="8572500" cy="552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실제로 무엇을 하나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3050" y="3271647"/>
            <a:ext cx="8572500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업무 단위에서 확인된 효과와 그 한계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38200" y="3648075"/>
            <a:ext cx="10515600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38200" y="3851720"/>
            <a:ext cx="57150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0066CC"/>
                </a:solidFill>
                <a:latin typeface="Arial"/>
                <a:ea typeface="Malgun Gothic"/>
                <a:cs typeface="Arial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3050" y="3822192"/>
            <a:ext cx="8572500" cy="552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무엇을 조심해야 하나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43050" y="4186047"/>
            <a:ext cx="8572500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잘하는 일과 아직 못 미더운 일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38200" y="4562475"/>
            <a:ext cx="10515600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38200" y="4766120"/>
            <a:ext cx="57150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0066CC"/>
                </a:solidFill>
                <a:latin typeface="Arial"/>
                <a:ea typeface="Malgun Gothic"/>
                <a:cs typeface="Arial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43050" y="4736592"/>
            <a:ext cx="8572500" cy="552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어떻게 도입하나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43050" y="5100447"/>
            <a:ext cx="8572500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네 단계로 나눈 현실적인 순서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38200" y="5476875"/>
            <a:ext cx="10515600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324600"/>
            <a:ext cx="12192000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38200" y="6496050"/>
            <a:ext cx="66675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개요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48800" y="6496050"/>
            <a:ext cx="1905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75" b="1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72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8200" y="1383030"/>
            <a:ext cx="2857500" cy="2667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0"/>
              </a:lnSpc>
              <a:spcBef>
                <a:spcPts val="0"/>
              </a:spcBef>
              <a:spcAft>
                <a:spcPts val="0"/>
              </a:spcAft>
            </a:pPr>
            <a:r>
              <a:rPr sz="10500" b="1" spc="-450">
                <a:solidFill>
                  <a:srgbClr val="3A3A3D"/>
                </a:solidFill>
                <a:latin typeface="Arial"/>
                <a:ea typeface="Malgun Gothic"/>
                <a:cs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19450" y="1837563"/>
            <a:ext cx="66675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20">
                <a:solidFill>
                  <a:srgbClr val="2997FF"/>
                </a:solidFill>
                <a:latin typeface="Arial"/>
                <a:ea typeface="Malgun Gothic"/>
                <a:cs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19450" y="2043684"/>
            <a:ext cx="8572500" cy="106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 spc="-9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무엇이 달라졌나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755517"/>
            <a:ext cx="8382000" cy="971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5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CCCCCC"/>
                </a:solidFill>
                <a:latin typeface="Arial"/>
                <a:ea typeface="Malgun Gothic"/>
                <a:cs typeface="Arial"/>
              </a:rPr>
              <a:t>오래된 기술이 갑자기 유용해진 것이 아니라,</a:t>
            </a:r>
          </a:p>
          <a:p>
            <a:pPr algn="l">
              <a:lnSpc>
                <a:spcPts val="285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CCCCCC"/>
                </a:solidFill>
                <a:latin typeface="Arial"/>
                <a:ea typeface="Malgun Gothic"/>
                <a:cs typeface="Arial"/>
              </a:rPr>
              <a:t>지시하는 방법과 만들어 내는 범위가 달라졌다.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0" y="6324600"/>
            <a:ext cx="12192000" cy="0"/>
          </a:xfrm>
          <a:prstGeom prst="line">
            <a:avLst/>
          </a:prstGeom>
          <a:ln w="9525">
            <a:solidFill>
              <a:srgbClr val="3D3D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38200" y="6496050"/>
            <a:ext cx="66675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>
                <a:solidFill>
                  <a:srgbClr val="CCCCCC"/>
                </a:solidFill>
                <a:latin typeface="Arial"/>
                <a:ea typeface="Malgun Gothic"/>
                <a:cs typeface="Arial"/>
              </a:rPr>
              <a:t>01 · 무엇이 달라졌나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800" y="6496050"/>
            <a:ext cx="1905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75" b="1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8200" y="580263"/>
            <a:ext cx="66675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20">
                <a:solidFill>
                  <a:srgbClr val="0066CC"/>
                </a:solidFill>
                <a:latin typeface="Arial"/>
                <a:ea typeface="Malgun Gothic"/>
                <a:cs typeface="Arial"/>
              </a:rPr>
              <a:t>WHAT CHANGED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745998"/>
            <a:ext cx="1051560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-75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규칙을 쓰던 시대에서 생성하는 시대로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1543050"/>
            <a:ext cx="533400" cy="28575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1777365"/>
            <a:ext cx="10515600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세 번의 전환이 있었다. 사람이 규칙을 쓰던 시대, 데이터에서 패턴을 학습하던 시대,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그리고 언어로 지시하면 결과물 자체를 만들어 내는 지금이다.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2695575"/>
            <a:ext cx="10515600" cy="2190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8200" y="5096256"/>
            <a:ext cx="105156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달라진 것은 정확도만이 아니라 </a:t>
            </a:r>
            <a:r>
              <a:rPr sz="1350" b="1">
                <a:solidFill>
                  <a:srgbClr val="0066CC"/>
                </a:solidFill>
                <a:latin typeface="Arial"/>
                <a:ea typeface="Malgun Gothic"/>
                <a:cs typeface="Arial"/>
              </a:rPr>
              <a:t>쓰는 방법</a:t>
            </a:r>
            <a:r>
              <a:rPr sz="1350" b="0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이다. 전문가가 모델을 설계하던 일을, 이제는 누구나 문장으로 지시한다.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0" y="6324600"/>
            <a:ext cx="12192000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38200" y="6496050"/>
            <a:ext cx="66675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01 · 무엇이 달라졌나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8800" y="6496050"/>
            <a:ext cx="1905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75" b="1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8200" y="580263"/>
            <a:ext cx="66675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20">
                <a:solidFill>
                  <a:srgbClr val="0066CC"/>
                </a:solidFill>
                <a:latin typeface="Arial"/>
                <a:ea typeface="Malgun Gothic"/>
                <a:cs typeface="Arial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745998"/>
            <a:ext cx="1051560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-75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답을 아는 것이 아니라, 그럴듯한 말을 고른다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1543050"/>
            <a:ext cx="533400" cy="28575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2009775"/>
            <a:ext cx="10515600" cy="2857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8200" y="5153406"/>
            <a:ext cx="105156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이 구조를 이해하면 왜 자신 있게 틀린 답을 내놓는지, 왜 검증 절차가 업무 설계의 일부여야 하는지가 설명된다.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0" y="6324600"/>
            <a:ext cx="12192000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38200" y="6496050"/>
            <a:ext cx="66675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01 · 무엇이 달라졌나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48800" y="6496050"/>
            <a:ext cx="1905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75" b="1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8200" y="580263"/>
            <a:ext cx="66675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20">
                <a:solidFill>
                  <a:srgbClr val="0066CC"/>
                </a:solidFill>
                <a:latin typeface="Arial"/>
                <a:ea typeface="Malgun Gothic"/>
                <a:cs typeface="Arial"/>
              </a:rP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803148"/>
            <a:ext cx="10515600" cy="1409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-75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업무 단위에서는</a:t>
            </a:r>
          </a:p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-75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효과가 확인됐다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2095500"/>
            <a:ext cx="533400" cy="28575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38200" y="2476024"/>
            <a:ext cx="66675" cy="66675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5850" y="2370010"/>
            <a:ext cx="4514850" cy="981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코딩, 글쓰기, 고객상담처럼 결과를 바로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확인할 수 있는 업무에서 효율이 크게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개선됐다.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8200" y="3504724"/>
            <a:ext cx="66675" cy="66675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5850" y="3398710"/>
            <a:ext cx="4514850" cy="981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다만 실제 업무환경을 설문한 결과는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훨씬 작았다. 적용하기 쉬운 업무에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한정된 효과라는 뜻이다.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19800" y="1676400"/>
            <a:ext cx="5334000" cy="3467100"/>
          </a:xfrm>
          <a:prstGeom prst="rect">
            <a:avLst/>
          </a:prstGeom>
        </p:spPr>
      </p:pic>
      <p:cxnSp>
        <p:nvCxnSpPr>
          <p:cNvPr id="11" name="Connector 10"/>
          <p:cNvCxnSpPr/>
          <p:nvPr/>
        </p:nvCxnSpPr>
        <p:spPr>
          <a:xfrm>
            <a:off x="0" y="6324600"/>
            <a:ext cx="12192000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38200" y="6496050"/>
            <a:ext cx="66675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02 · 어디에 쓰이나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800" y="6496050"/>
            <a:ext cx="1905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75" b="1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8200" y="580263"/>
            <a:ext cx="66675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20">
                <a:solidFill>
                  <a:srgbClr val="0066CC"/>
                </a:solidFill>
                <a:latin typeface="Arial"/>
                <a:ea typeface="Malgun Gothic"/>
                <a:cs typeface="Arial"/>
              </a:rPr>
              <a:t>THREE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803148"/>
            <a:ext cx="1051560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-75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쓰는 방식은 세 가지로 나뉜다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1600200"/>
            <a:ext cx="533400" cy="28575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38200" y="2352675"/>
            <a:ext cx="3352800" cy="24003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900" y="2626233"/>
            <a:ext cx="2819400" cy="514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보조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" y="2987992"/>
            <a:ext cx="2819400" cy="352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0066CC"/>
                </a:solidFill>
                <a:latin typeface="Arial"/>
                <a:ea typeface="Malgun Gothic"/>
                <a:cs typeface="Arial"/>
              </a:rPr>
              <a:t>사람이 하고, AI가 돕는다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" y="3311842"/>
            <a:ext cx="2819400" cy="800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초안 작성, 요약, 번역, 코드 자동완성.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결과를 사람이 그대로 검토하므로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위험이 가장 낮고 도입도 가장 빠르다.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04900" y="4219575"/>
            <a:ext cx="2819400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04900" y="4361688"/>
            <a:ext cx="281940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지금 대부분의 조직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2352675"/>
            <a:ext cx="3352800" cy="24003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6300" y="2626233"/>
            <a:ext cx="2819400" cy="514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자동화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6300" y="2987992"/>
            <a:ext cx="2819400" cy="352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0066CC"/>
                </a:solidFill>
                <a:latin typeface="Arial"/>
                <a:ea typeface="Malgun Gothic"/>
                <a:cs typeface="Arial"/>
              </a:rPr>
              <a:t>정해진 절차를 맡긴다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6300" y="3311842"/>
            <a:ext cx="2819400" cy="800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문서 분류, 1차 응대, 데이터 정리.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예외 처리와 품질 기준을 먼저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정의해 두어야 작동한다.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86300" y="4219575"/>
            <a:ext cx="2819400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86300" y="4361688"/>
            <a:ext cx="281940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파일럿 단계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2352675"/>
            <a:ext cx="3352800" cy="24003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7700" y="2626233"/>
            <a:ext cx="2819400" cy="514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에이전트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7700" y="2987992"/>
            <a:ext cx="2819400" cy="352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0066CC"/>
                </a:solidFill>
                <a:latin typeface="Arial"/>
                <a:ea typeface="Malgun Gothic"/>
                <a:cs typeface="Arial"/>
              </a:rPr>
              <a:t>도구를 쓰며 작업을 수행한다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7700" y="3311842"/>
            <a:ext cx="2819400" cy="800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검색·실행·수정을 스스로 반복.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권한 범위와 되돌리기 방법을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설계하는 일이 핵심이 된다.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267700" y="4219575"/>
            <a:ext cx="2819400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67700" y="4361688"/>
            <a:ext cx="281940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초기 실험 단계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5134356"/>
            <a:ext cx="105156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오른쪽으로 갈수록 효과는 커지지만, </a:t>
            </a:r>
            <a:r>
              <a:rPr sz="1350" b="1">
                <a:solidFill>
                  <a:srgbClr val="0066CC"/>
                </a:solidFill>
                <a:latin typeface="Arial"/>
                <a:ea typeface="Malgun Gothic"/>
                <a:cs typeface="Arial"/>
              </a:rPr>
              <a:t>틀렸을 때 되돌리는 비용도 함께 커진다</a:t>
            </a:r>
            <a:r>
              <a:rPr sz="1350" b="0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. 순서대로 넘어가는 편이 안전하다.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0" y="6324600"/>
            <a:ext cx="12192000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38200" y="6496050"/>
            <a:ext cx="66675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02 · 어디에 쓰이나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48800" y="6496050"/>
            <a:ext cx="1905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75" b="1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6000" cy="6324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0" y="0"/>
            <a:ext cx="6096000" cy="6324600"/>
          </a:xfrm>
          <a:prstGeom prst="rect">
            <a:avLst/>
          </a:prstGeom>
          <a:solidFill>
            <a:srgbClr val="272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200" y="999363"/>
            <a:ext cx="44196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2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JUST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1289685"/>
            <a:ext cx="4419600" cy="647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5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spc="-45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잘하는 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8200" y="2118360"/>
            <a:ext cx="66675" cy="66675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5850" y="2019681"/>
            <a:ext cx="417195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형식이 정해진 글을 빠르게 초안화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8200" y="2556510"/>
            <a:ext cx="66675" cy="66675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5850" y="2457831"/>
            <a:ext cx="417195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긴 문서에서 필요한 부분 찾아 정리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8200" y="2994660"/>
            <a:ext cx="66675" cy="66675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5850" y="2895981"/>
            <a:ext cx="417195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코드 작성과 오류 설명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8200" y="3432810"/>
            <a:ext cx="66675" cy="66675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5850" y="3334131"/>
            <a:ext cx="417195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번역, 말투 변환, 분류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38200" y="4838700"/>
            <a:ext cx="4419600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38200" y="5014722"/>
            <a:ext cx="4419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공통점 — 결과가 맞는지 사람이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곧바로 확인할 수 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4200" y="999363"/>
            <a:ext cx="44196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20">
                <a:solidFill>
                  <a:srgbClr val="2997FF"/>
                </a:solidFill>
                <a:latin typeface="Arial"/>
                <a:ea typeface="Malgun Gothic"/>
                <a:cs typeface="Arial"/>
              </a:rPr>
              <a:t>NOT YET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4200" y="1289685"/>
            <a:ext cx="4419600" cy="647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5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spc="-45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아직 못 미더운 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34200" y="2118360"/>
            <a:ext cx="66675" cy="66675"/>
          </a:xfrm>
          <a:prstGeom prst="roundRect">
            <a:avLst>
              <a:gd name="adj" fmla="val 50000"/>
            </a:avLst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1850" y="2019681"/>
            <a:ext cx="4171950" cy="666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CCCCCC"/>
                </a:solidFill>
                <a:latin typeface="Arial"/>
                <a:ea typeface="Malgun Gothic"/>
                <a:cs typeface="Arial"/>
              </a:rPr>
              <a:t>출처가 필요한 사실 확인 — 그럴듯한</a:t>
            </a:r>
          </a:p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CCCCCC"/>
                </a:solidFill>
                <a:latin typeface="Arial"/>
                <a:ea typeface="Malgun Gothic"/>
                <a:cs typeface="Arial"/>
              </a:rPr>
              <a:t>오답을 자신 있게 내놓는다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34200" y="2766060"/>
            <a:ext cx="66675" cy="66675"/>
          </a:xfrm>
          <a:prstGeom prst="roundRect">
            <a:avLst>
              <a:gd name="adj" fmla="val 50000"/>
            </a:avLst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1850" y="2667381"/>
            <a:ext cx="4171950" cy="666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CCCCCC"/>
                </a:solidFill>
                <a:latin typeface="Arial"/>
                <a:ea typeface="Malgun Gothic"/>
                <a:cs typeface="Arial"/>
              </a:rPr>
              <a:t>최신 정보나 사내 데이터 — 알려준</a:t>
            </a:r>
          </a:p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CCCCCC"/>
                </a:solidFill>
                <a:latin typeface="Arial"/>
                <a:ea typeface="Malgun Gothic"/>
                <a:cs typeface="Arial"/>
              </a:rPr>
              <a:t>범위 밖은 알지 못한다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34200" y="3413760"/>
            <a:ext cx="66675" cy="66675"/>
          </a:xfrm>
          <a:prstGeom prst="roundRect">
            <a:avLst>
              <a:gd name="adj" fmla="val 50000"/>
            </a:avLst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1850" y="3315081"/>
            <a:ext cx="417195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CCCCCC"/>
                </a:solidFill>
                <a:latin typeface="Arial"/>
                <a:ea typeface="Malgun Gothic"/>
                <a:cs typeface="Arial"/>
              </a:rPr>
              <a:t>책임이 따르는 최종 판단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34200" y="3813810"/>
            <a:ext cx="66675" cy="66675"/>
          </a:xfrm>
          <a:prstGeom prst="roundRect">
            <a:avLst>
              <a:gd name="adj" fmla="val 50000"/>
            </a:avLst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81850" y="3715131"/>
            <a:ext cx="4171950" cy="666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CCCCCC"/>
                </a:solidFill>
                <a:latin typeface="Arial"/>
                <a:ea typeface="Malgun Gothic"/>
                <a:cs typeface="Arial"/>
              </a:rPr>
              <a:t>민감 정보 처리 — 무엇을 보내는지</a:t>
            </a:r>
          </a:p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CCCCCC"/>
                </a:solidFill>
                <a:latin typeface="Arial"/>
                <a:ea typeface="Malgun Gothic"/>
                <a:cs typeface="Arial"/>
              </a:rPr>
              <a:t>먼저 정해야 한다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934200" y="4838700"/>
            <a:ext cx="4419600" cy="0"/>
          </a:xfrm>
          <a:prstGeom prst="line">
            <a:avLst/>
          </a:prstGeom>
          <a:ln w="9525">
            <a:solidFill>
              <a:srgbClr val="3D3D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934200" y="5014722"/>
            <a:ext cx="4419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CCCCC"/>
                </a:solidFill>
                <a:latin typeface="Arial"/>
                <a:ea typeface="Malgun Gothic"/>
                <a:cs typeface="Arial"/>
              </a:rPr>
              <a:t>공통점 — 틀렸을 때 확인 비용이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CCCCC"/>
                </a:solidFill>
                <a:latin typeface="Arial"/>
                <a:ea typeface="Malgun Gothic"/>
                <a:cs typeface="Arial"/>
              </a:rPr>
              <a:t>크고, 확인 자체가 어렵다.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0" y="6324600"/>
            <a:ext cx="12192000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38200" y="6496050"/>
            <a:ext cx="66675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03 · 무엇을 조심해야 하나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8800" y="6496050"/>
            <a:ext cx="1905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75" b="1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8200" y="580263"/>
            <a:ext cx="66675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20">
                <a:solidFill>
                  <a:srgbClr val="0066CC"/>
                </a:solidFill>
                <a:latin typeface="Arial"/>
                <a:ea typeface="Malgun Gothic"/>
                <a:cs typeface="Arial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745998"/>
            <a:ext cx="1051560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-75">
                <a:solidFill>
                  <a:srgbClr val="1D1D1F"/>
                </a:solidFill>
                <a:latin typeface="Arial"/>
                <a:ea typeface="Malgun Gothic"/>
                <a:cs typeface="Arial"/>
              </a:rPr>
              <a:t>네 단계로 나누어 시작한다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1543050"/>
            <a:ext cx="533400" cy="28575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1777365"/>
            <a:ext cx="10515600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도구를 먼저 사는 것이 아니라 업무를 먼저 고른다. 효과를 잴 수 없는 업무에서 시작하면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도입이 성공했는지 아무도 답하지 못한다.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2905125"/>
            <a:ext cx="10515600" cy="2762250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0" y="6324600"/>
            <a:ext cx="12192000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38200" y="6496050"/>
            <a:ext cx="66675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>
                <a:solidFill>
                  <a:srgbClr val="7A7A7A"/>
                </a:solidFill>
                <a:latin typeface="Arial"/>
                <a:ea typeface="Malgun Gothic"/>
                <a:cs typeface="Arial"/>
              </a:rPr>
              <a:t>04 · 어떻게 도입하나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48800" y="6496050"/>
            <a:ext cx="1905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75" b="1">
                <a:solidFill>
                  <a:srgbClr val="333333"/>
                </a:solidFill>
                <a:latin typeface="Arial"/>
                <a:ea typeface="Malgun Gothic"/>
                <a:cs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52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8200" y="580263"/>
            <a:ext cx="66675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20">
                <a:solidFill>
                  <a:srgbClr val="2997FF"/>
                </a:solidFill>
                <a:latin typeface="Arial"/>
                <a:ea typeface="Malgun Gothic"/>
                <a:cs typeface="Arial"/>
              </a:rPr>
              <a:t>IN ONE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1630680"/>
            <a:ext cx="9715500" cy="148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5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spc="-6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도구를 도입하는 일이 아니라,</a:t>
            </a:r>
          </a:p>
          <a:p>
            <a:pPr algn="l">
              <a:lnSpc>
                <a:spcPts val="435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spc="-60">
                <a:solidFill>
                  <a:srgbClr val="2997FF"/>
                </a:solidFill>
                <a:latin typeface="Arial"/>
                <a:ea typeface="Malgun Gothic"/>
                <a:cs typeface="Arial"/>
              </a:rPr>
              <a:t>일하는 방식을 다시 설계하는 일이다.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8200" y="3209449"/>
            <a:ext cx="66675" cy="66675"/>
          </a:xfrm>
          <a:prstGeom prst="roundRect">
            <a:avLst>
              <a:gd name="adj" fmla="val 50000"/>
            </a:avLst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5850" y="3103436"/>
            <a:ext cx="8324850" cy="447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CCCCCC"/>
                </a:solidFill>
                <a:latin typeface="Arial"/>
                <a:ea typeface="Malgun Gothic"/>
                <a:cs typeface="Arial"/>
              </a:rPr>
              <a:t>확인 가능한 업무부터 고른다 — 효과를 숫자로 말할 수 있어야 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8200" y="3628549"/>
            <a:ext cx="66675" cy="66675"/>
          </a:xfrm>
          <a:prstGeom prst="roundRect">
            <a:avLst>
              <a:gd name="adj" fmla="val 50000"/>
            </a:avLst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5850" y="3522536"/>
            <a:ext cx="8324850" cy="447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CCCCCC"/>
                </a:solidFill>
                <a:latin typeface="Arial"/>
                <a:ea typeface="Malgun Gothic"/>
                <a:cs typeface="Arial"/>
              </a:rPr>
              <a:t>검증 단계를 업무 절차에 넣는다 — 확률적 산출이라는 성질은 사라지지 않는다.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8200" y="4047649"/>
            <a:ext cx="66675" cy="66675"/>
          </a:xfrm>
          <a:prstGeom prst="roundRect">
            <a:avLst>
              <a:gd name="adj" fmla="val 50000"/>
            </a:avLst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5850" y="3941636"/>
            <a:ext cx="8324850" cy="447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CCCCCC"/>
                </a:solidFill>
                <a:latin typeface="Arial"/>
                <a:ea typeface="Malgun Gothic"/>
                <a:cs typeface="Arial"/>
              </a:rPr>
              <a:t>사람의 역할을 다시 정의한다 — 도구만 바꾸면 효과는 작다.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38200" y="5295900"/>
            <a:ext cx="10515600" cy="0"/>
          </a:xfrm>
          <a:prstGeom prst="line">
            <a:avLst/>
          </a:prstGeom>
          <a:ln w="9525">
            <a:solidFill>
              <a:srgbClr val="3D3D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38200" y="5476113"/>
            <a:ext cx="10515600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CCCCC"/>
                </a:solidFill>
                <a:latin typeface="Arial"/>
                <a:ea typeface="Malgun Gothic"/>
                <a:cs typeface="Arial"/>
              </a:rPr>
              <a:t>출처 — Peng et al.(2023) · Noy &amp; Zhang(2023) · Brynjolfsson, Li &amp; Raymond(2025) ·</a:t>
            </a:r>
          </a:p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CCCCC"/>
                </a:solidFill>
                <a:latin typeface="Arial"/>
                <a:ea typeface="Malgun Gothic"/>
                <a:cs typeface="Arial"/>
              </a:rPr>
              <a:t>서동현 외(2026), 한국은행 BOK 이슈노트. 디자인 — slides-reference-apple.html (Arial).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0" y="6324600"/>
            <a:ext cx="12192000" cy="0"/>
          </a:xfrm>
          <a:prstGeom prst="line">
            <a:avLst/>
          </a:prstGeom>
          <a:ln w="9525">
            <a:solidFill>
              <a:srgbClr val="3D3D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38200" y="6496050"/>
            <a:ext cx="66675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>
                <a:solidFill>
                  <a:srgbClr val="CCCCCC"/>
                </a:solidFill>
                <a:latin typeface="Arial"/>
                <a:ea typeface="Malgun Gothic"/>
                <a:cs typeface="Arial"/>
              </a:rPr>
              <a:t>맺음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48800" y="6496050"/>
            <a:ext cx="1905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75" b="1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