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graphic1.svg" ContentType="image/svg+xml"/>
  <Override PartName="/ppt/media/graphic10.svg" ContentType="image/svg+xml"/>
  <Override PartName="/ppt/media/graphic2.svg" ContentType="image/svg+xml"/>
  <Override PartName="/ppt/media/graphic3.svg" ContentType="image/svg+xml"/>
  <Override PartName="/ppt/media/graphic4.svg" ContentType="image/svg+xml"/>
  <Override PartName="/ppt/media/graphic5.svg" ContentType="image/svg+xml"/>
  <Override PartName="/ppt/media/graphic6.svg" ContentType="image/svg+xml"/>
  <Override PartName="/ppt/media/graphic7.svg" ContentType="image/svg+xml"/>
  <Override PartName="/ppt/media/graphic8.svg" ContentType="image/svg+xml"/>
  <Override PartName="/ppt/media/graphic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원문 전체 16쪽을 20장으로 압축한 발표용 요약본입니다.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graphic1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graphic2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graphic3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graphic4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graphic5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graphic6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graphic7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graphic8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graphic9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graphic10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5802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BOK 경제연구 INSIGHT · 2026. 7. 28.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303020"/>
            <a:ext cx="9525000" cy="198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55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spc="-10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AI의 미시적 효과가</a:t>
            </a:r>
          </a:p>
          <a:p>
            <a:pPr algn="l">
              <a:lnSpc>
                <a:spcPts val="555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spc="-10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거시적 성장으로 이어지려면?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088767"/>
            <a:ext cx="85725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범용기술(GPT)의 역사에서 찾는 시사점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5257800"/>
            <a:ext cx="1143000" cy="28575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5626418"/>
            <a:ext cx="6667500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한국은행 경제연구원 거시경제연구실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893118"/>
            <a:ext cx="6667500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부연구위원 남충현 · 원문 요약 발표자료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5802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803148"/>
            <a:ext cx="105156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-7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네 문장으로 보는 결론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600200"/>
            <a:ext cx="533400" cy="28575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8200" y="1952625"/>
            <a:ext cx="5124450" cy="17716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04900" y="22098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900" y="2239708"/>
            <a:ext cx="2857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2617660"/>
            <a:ext cx="4591050" cy="4162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미시적 효과는 이미 확인된다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2975610"/>
            <a:ext cx="4591050" cy="800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고객 문의 처리·코딩 등 개별 업무에서 효율이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즉시 개선됐다. 다만 AI를 적용하기 쉬운 일부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업무에서 관찰된 결과다.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9350" y="1952625"/>
            <a:ext cx="5124450" cy="17716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6050" y="22098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6050" y="2239708"/>
            <a:ext cx="2857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6050" y="2617660"/>
            <a:ext cx="4591050" cy="4162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거시 효과는 적용 범위가 좌우한다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6050" y="2975610"/>
            <a:ext cx="4591050" cy="800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같은 절감률을 가정해도 그 업무가 GDP에서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차지하는 비중에 따라 전망은 연 0.07%p에서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2.6%p까지 벌어진다.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8200" y="3990975"/>
            <a:ext cx="5124450" cy="17716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04900" y="42481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900" y="4278058"/>
            <a:ext cx="2857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" y="4656010"/>
            <a:ext cx="4591050" cy="4162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과거 범용기술도 늦게 왔다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" y="5013960"/>
            <a:ext cx="4591050" cy="800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증기·전기·정보기술 모두 초기 기여도는 낮았고,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경제 전반으로 확산된 뒤에야 성장에 본격적으로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기여하기 시작했다.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9350" y="3990975"/>
            <a:ext cx="5124450" cy="17716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6050" y="42481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6050" y="4278058"/>
            <a:ext cx="2857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6050" y="4656010"/>
            <a:ext cx="4591050" cy="4162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확산을 막는 한계를 넘어야 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6050" y="5013960"/>
            <a:ext cx="4591050" cy="800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연관 기술의 발전, 업무 프로세스의 재설계,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그리고 생산 현장으로의 확장이 함께 이루어질 때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거시적 효과가 실현된다.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7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핵심 요약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5802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803148"/>
            <a:ext cx="105156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-7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오늘 다루는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600200"/>
            <a:ext cx="533400" cy="28575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022920"/>
            <a:ext cx="5715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3050" y="1993392"/>
            <a:ext cx="8572500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검토배경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3050" y="2357247"/>
            <a:ext cx="85725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미시 효과와 거시 통계 사이의 간극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38200" y="2733675"/>
            <a:ext cx="105156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38200" y="2937320"/>
            <a:ext cx="5715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3050" y="2907792"/>
            <a:ext cx="8572500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AI의 생산성 효과와 전망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3050" y="3271647"/>
            <a:ext cx="85725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업무·기업 수준 실증연구와 기관별 전망치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8200" y="3648075"/>
            <a:ext cx="105156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8200" y="3851720"/>
            <a:ext cx="5715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3050" y="3822192"/>
            <a:ext cx="8572500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범용기술 확산의 역사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43050" y="4186047"/>
            <a:ext cx="85725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증기기관·전기·정보기술이 걸린 시간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8200" y="4562475"/>
            <a:ext cx="105156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38200" y="4766120"/>
            <a:ext cx="5715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3050" y="4736592"/>
            <a:ext cx="8572500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시사점과 결론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3050" y="5100447"/>
            <a:ext cx="85725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AI가 넘어야 할 기술적·제도적 한계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8200" y="5476875"/>
            <a:ext cx="105156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7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목차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1383030"/>
            <a:ext cx="2857500" cy="266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0"/>
              </a:lnSpc>
              <a:spcBef>
                <a:spcPts val="0"/>
              </a:spcBef>
              <a:spcAft>
                <a:spcPts val="0"/>
              </a:spcAft>
            </a:pPr>
            <a:r>
              <a:rPr sz="10500" b="1" spc="-450">
                <a:solidFill>
                  <a:srgbClr val="3A3A3D"/>
                </a:solidFill>
                <a:latin typeface="Arial"/>
                <a:ea typeface="Malgun Gothic"/>
                <a:cs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19450" y="18375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2997FF"/>
                </a:solidFill>
                <a:latin typeface="Arial"/>
                <a:ea typeface="Malgun Gothic"/>
                <a:cs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19450" y="2043684"/>
            <a:ext cx="7620000" cy="106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spc="-9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검토배경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755517"/>
            <a:ext cx="7810500" cy="971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개별 업무에서는 이미 보이는 효과가,</a:t>
            </a:r>
          </a:p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경제 전체의 생산성 통계에서는 아직 보이지 않는다.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3D3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75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01 · 검토배경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5802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803148"/>
            <a:ext cx="10515600" cy="140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-7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미시적 효과는 왜</a:t>
            </a:r>
          </a:p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-7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곧바로 거시로 가지 않는가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2095500"/>
            <a:ext cx="533400" cy="28575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8200" y="2519362"/>
            <a:ext cx="66675" cy="66675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5850" y="2406015"/>
            <a:ext cx="4857750" cy="1019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Hulten의 정리: 거시적 효과는 해당 부문의</a:t>
            </a:r>
          </a:p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비용절감 효과에 그 부문이 경제에서 차지하는</a:t>
            </a:r>
          </a:p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비중을 곱한 값이다.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200" y="3595688"/>
            <a:ext cx="66675" cy="66675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5850" y="3482340"/>
            <a:ext cx="4857750" cy="742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AI를 쓰는 근로자가 효과를 체감하더라도</a:t>
            </a:r>
          </a:p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곧바로 기업 산출 증가로 이어지지 않는다.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8200" y="4395788"/>
            <a:ext cx="66675" cy="66675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850" y="4282440"/>
            <a:ext cx="4857750" cy="742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기업 생산성이 올라가도 그것이 GDP 성장의</a:t>
            </a:r>
          </a:p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가속으로 연결된다는 보장은 없다.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0800" y="1409700"/>
            <a:ext cx="4953000" cy="3810000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7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01 · 검토배경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1383030"/>
            <a:ext cx="2857500" cy="266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0"/>
              </a:lnSpc>
              <a:spcBef>
                <a:spcPts val="0"/>
              </a:spcBef>
              <a:spcAft>
                <a:spcPts val="0"/>
              </a:spcAft>
            </a:pPr>
            <a:r>
              <a:rPr sz="10500" b="1" spc="-450">
                <a:solidFill>
                  <a:srgbClr val="3A3A3D"/>
                </a:solidFill>
                <a:latin typeface="Arial"/>
                <a:ea typeface="Malgun Gothic"/>
                <a:cs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19450" y="18375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2997FF"/>
                </a:solidFill>
                <a:latin typeface="Arial"/>
                <a:ea typeface="Malgun Gothic"/>
                <a:cs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19450" y="2043684"/>
            <a:ext cx="8572500" cy="106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spc="-9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AI의 생산성 효과와 전망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755517"/>
            <a:ext cx="8191500" cy="971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업무 수준에서는 뚜렷하고, 기업 수준에서는 흐릿하며,</a:t>
            </a:r>
          </a:p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경제 수준에서는 아직 전망뿐이다.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3D3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75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02 · 생산성 효과와 전망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5802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TASK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803148"/>
            <a:ext cx="10515600" cy="140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-7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업무 수준에서는</a:t>
            </a:r>
          </a:p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-7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효과가 이미 나타났다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2095500"/>
            <a:ext cx="533400" cy="28575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8200" y="2476024"/>
            <a:ext cx="66675" cy="66675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5850" y="2370010"/>
            <a:ext cx="4514850" cy="981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고객지원에 AI 에이전트를 도입하자 시간당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문의 해결 건수가 23.9% 증가했고, 그 효과는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도입 3개월째에 정점에 이르렀다.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200" y="3504724"/>
            <a:ext cx="66675" cy="66675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5850" y="3398710"/>
            <a:ext cx="4514850" cy="981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국내 취업자 5,512명 설문에서는 업무시간이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약 3.8% 단축되는 데 그쳤다 — 통제된 실험이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아닌 실제 업무환경의 값이다.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9800" y="1676400"/>
            <a:ext cx="5334000" cy="3429000"/>
          </a:xfrm>
          <a:prstGeom prst="rect">
            <a:avLst/>
          </a:prstGeom>
        </p:spPr>
      </p:pic>
      <p:cxnSp>
        <p:nvCxnSpPr>
          <p:cNvPr id="11" name="Connector 10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7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02 · 생산성 효과와 전망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5802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FIRM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803148"/>
            <a:ext cx="105156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-7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기업 수준에서는 효과가 일관되게 확인되지 않는다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600200"/>
            <a:ext cx="533400" cy="28575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8200" y="2162175"/>
            <a:ext cx="3352800" cy="2324100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900" y="2389060"/>
            <a:ext cx="2819400" cy="4162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간접지표로 본 연구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2747010"/>
            <a:ext cx="2819400" cy="1019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AI 인력 채용은 생산성에 유의한 영향이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없었다(Babina 2024). 반면 AI 특허출원은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노동생산성과 양(+)의 상관을 보였다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(Alderucci 2020; Damioli 2021).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04900" y="3895725"/>
            <a:ext cx="28194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04900" y="4033647"/>
            <a:ext cx="28194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결과가 엇갈림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9600" y="2162175"/>
            <a:ext cx="3352800" cy="2324100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6300" y="2389060"/>
            <a:ext cx="2819400" cy="4162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서베이 기반 연구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6300" y="2747010"/>
            <a:ext cx="2819400" cy="1019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AI 도입 기업의 생산성이 더 높게 나왔지만,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통제변수를 넣으면 유의성이 사라졌다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(Acemoglu 2022). OECD 9개국에서도 ICT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역량을 통제하자 계수가 크게 낮아졌다.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86300" y="3895725"/>
            <a:ext cx="28194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686300" y="4033647"/>
            <a:ext cx="28194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통제하면 사라짐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162175"/>
            <a:ext cx="3352800" cy="2324100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7700" y="2389060"/>
            <a:ext cx="2819400" cy="4162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국내 연구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7700" y="2747010"/>
            <a:ext cx="2819400" cy="1019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국내 기업의 AI 도입은 노동생산성에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유의한 효과가 없었다(오삼일 외 2025).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도입 이후 최대 6년까지도 유의하지 않았다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(남충현 2026).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67700" y="3895725"/>
            <a:ext cx="28194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67700" y="4033647"/>
            <a:ext cx="28194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6년까지 유의하지 않음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4825365"/>
            <a:ext cx="105156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개인의 업무 효율이 기업의 산출로 합쳐지려면, </a:t>
            </a:r>
            <a:r>
              <a:rPr sz="1500" b="1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AI가 적용된 업무가 기업 활동에서 차지하는 비중</a:t>
            </a:r>
            <a:r>
              <a:rPr sz="1500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이 충분히 커야 한다.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7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02 · 생산성 효과와 전망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5802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45998"/>
            <a:ext cx="105156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-7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같은 절감률, 다른 결론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543050"/>
            <a:ext cx="533400" cy="28575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1777365"/>
            <a:ext cx="105156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두 연구 모두 노동비용 절감률을 27~40%로 높게 잡았다. 결과가 18배 갈린 이유는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10년 안에 AI가 실제로 적용될 task의 GDP 비중을 각각 4.6%와 54.4%로 봤기 때문이다.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2619375"/>
            <a:ext cx="10515600" cy="314325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7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02 · 생산성 효과와 전망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5802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45998"/>
            <a:ext cx="105156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-7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기관별 전망은 0.03%p에서 2.6%p까지 흩어져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543050"/>
            <a:ext cx="533400" cy="28575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1952625"/>
            <a:ext cx="10515600" cy="3848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8200" y="5864542"/>
            <a:ext cx="10515600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지표와 대상이 서로 달라 직접 비교는 어렵다. 차이의 대부분은 AI 확산 속도 전망에서 온다.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7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02 · 생산성 효과와 전망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5802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WHAT DRIVES THE SPREAD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803148"/>
            <a:ext cx="105156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-7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전망을 가르는 세 가지 변수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600200"/>
            <a:ext cx="533400" cy="28575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8200" y="2124075"/>
            <a:ext cx="105156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8200" y="235267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392108"/>
            <a:ext cx="3048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25624"/>
            <a:ext cx="323850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업무 간 대체탄력성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3950" y="2355152"/>
            <a:ext cx="6419850" cy="676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task 사이의 대체성이 낮으면 자동화가 어려운 업무가 '약한 고리'로 남아</a:t>
            </a:r>
          </a:p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전체 생산과정을 제약한다 (Jones 2026; Anthropic 2026).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200" y="3305175"/>
            <a:ext cx="105156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8200" y="353377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" y="3573208"/>
            <a:ext cx="3048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06724"/>
            <a:ext cx="323850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물리적 업무의 자동화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3950" y="3536252"/>
            <a:ext cx="6419850" cy="676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지금 적용이 쉬운 일은 사무직·전문직의 인지적 업무에 몰려 있다. 생산직의</a:t>
            </a:r>
          </a:p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물리적 업무까지 확대되면 효과는 더 커진다 (Filippucci et al. 2024).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8200" y="4486275"/>
            <a:ext cx="105156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8200" y="471487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" y="4754308"/>
            <a:ext cx="3048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687824"/>
            <a:ext cx="323850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도입 비용의 하락 속도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3950" y="4717352"/>
            <a:ext cx="6419850" cy="676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연산 비용이 기하급수적으로 낮아진다는 낙관론과, 전력비·인건비가 남아</a:t>
            </a:r>
          </a:p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절반으로 줄지는 않는다는 반론이 맞선다 (Aghion &amp; Bunel 2025).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7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02 · 생산성 효과와 전망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1383030"/>
            <a:ext cx="2857500" cy="266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0"/>
              </a:lnSpc>
              <a:spcBef>
                <a:spcPts val="0"/>
              </a:spcBef>
              <a:spcAft>
                <a:spcPts val="0"/>
              </a:spcAft>
            </a:pPr>
            <a:r>
              <a:rPr sz="10500" b="1" spc="-450">
                <a:solidFill>
                  <a:srgbClr val="3A3A3D"/>
                </a:solidFill>
                <a:latin typeface="Arial"/>
                <a:ea typeface="Malgun Gothic"/>
                <a:cs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19450" y="18375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2997FF"/>
                </a:solidFill>
                <a:latin typeface="Arial"/>
                <a:ea typeface="Malgun Gothic"/>
                <a:cs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19450" y="2043684"/>
            <a:ext cx="8572500" cy="106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spc="-9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범용기술 확산의 역사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755517"/>
            <a:ext cx="8382000" cy="971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증기기관도, 전기도, 정보기술도 처음에는 좁은 곳에서만 쓰였다.</a:t>
            </a:r>
          </a:p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성장에 기여하기 시작한 것은 그 다음이었다.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3D3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75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03 · 범용기술 확산의 역사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5802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LAGGED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45998"/>
            <a:ext cx="105156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-7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기여도는 20~70년에 걸쳐 뒤늦게 올라왔다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543050"/>
            <a:ext cx="533400" cy="28575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1990725"/>
            <a:ext cx="10515600" cy="3238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8200" y="5401056"/>
            <a:ext cx="10515600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증기기관은 첫 70년 동안 연 0.014%p에 그쳤다가 다음 40년에 0.30%p로 올라섰고, </a:t>
            </a:r>
          </a:p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정보기술은 1995~2004년에 1.50%p로 정점을 찍은 뒤 다시 낮아졌다.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7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03 · 범용기술 확산의 역사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5802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STEAM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803148"/>
            <a:ext cx="10515600" cy="140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-7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탄광 펌프에서</a:t>
            </a:r>
          </a:p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-7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가장 주된 동력원까지 70년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2095500"/>
            <a:ext cx="533400" cy="28575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8200" y="2476024"/>
            <a:ext cx="66675" cy="66675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5850" y="2370010"/>
            <a:ext cx="4705350" cy="981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초기 증기기관은 대기압 수준의 저압 증기를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써서 출력과 연료 효율이 낮았고, 탄광 배수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펌프 같은 제한된 용도에만 쓰였다.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200" y="3504724"/>
            <a:ext cx="66675" cy="66675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5850" y="3398710"/>
            <a:ext cx="4705350" cy="981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19세기 초 고압 증기기관이 나오면서 공장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기계·기관차·증기선으로 쓰임이 넓어졌고,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그때부터 성장 기여도가 높아졌다.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6500" y="1905000"/>
            <a:ext cx="4953000" cy="3143250"/>
          </a:xfrm>
          <a:prstGeom prst="rect">
            <a:avLst/>
          </a:prstGeom>
        </p:spPr>
      </p:pic>
      <p:cxnSp>
        <p:nvCxnSpPr>
          <p:cNvPr id="11" name="Connector 10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7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03 · 범용기술 확산의 역사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52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5802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2997FF"/>
                </a:solidFill>
                <a:latin typeface="Arial"/>
                <a:ea typeface="Malgun Gothic"/>
                <a:cs typeface="Arial"/>
              </a:rPr>
              <a:t>ELECTRICITY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45998"/>
            <a:ext cx="105156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-75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기계가 아니라 공장을 다시 설계해야 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543050"/>
            <a:ext cx="533400" cy="28575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1779460"/>
            <a:ext cx="10515600" cy="714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증기기관 자리에 모터만 바꿔 끼웠을 때는 효율 우위가 분명하지 않았다. 동력축을 걷어내고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기계마다 모터를 달고 나서야 속도 조절과 동선 재배치가 가능해졌다.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2619375"/>
            <a:ext cx="10515600" cy="2857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8200" y="5686806"/>
            <a:ext cx="105156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전기가 공장의 주된 동력원이 되기까지 </a:t>
            </a:r>
            <a:r>
              <a:rPr sz="1350" b="1">
                <a:solidFill>
                  <a:srgbClr val="2997FF"/>
                </a:solidFill>
                <a:latin typeface="Arial"/>
                <a:ea typeface="Malgun Gothic"/>
                <a:cs typeface="Arial"/>
              </a:rPr>
              <a:t>30년 이상</a:t>
            </a:r>
            <a:r>
              <a:rPr sz="1350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이 걸렸다 (Devine, 1983).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3D3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75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03 · 범용기술 확산의 역사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5802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DIFFUSION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803148"/>
            <a:ext cx="105156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-7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그리고 1919년, 순서가 바뀌었다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600200"/>
            <a:ext cx="533400" cy="28575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8200" y="2018824"/>
            <a:ext cx="66675" cy="66675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5850" y="1912810"/>
            <a:ext cx="4705350" cy="714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미국 제조업 동력원에서 전기 비중이 53.1%로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증기(40.7%)를 처음 넘어섰다.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200" y="2780824"/>
            <a:ext cx="66675" cy="66675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5850" y="2674810"/>
            <a:ext cx="4705350" cy="1247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수력발전소 인근 지역에서는 10년 안에 생산성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효과가 나타났지만, 전국 수준의 생산성 증가로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이어지기까지는 20~30년이 더 걸렸다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(Fiszbein et al., 2020).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0300" y="1809750"/>
            <a:ext cx="5143500" cy="3238500"/>
          </a:xfrm>
          <a:prstGeom prst="rect">
            <a:avLst/>
          </a:prstGeom>
        </p:spPr>
      </p:pic>
      <p:cxnSp>
        <p:nvCxnSpPr>
          <p:cNvPr id="11" name="Connector 10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7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03 · 범용기술 확산의 역사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5802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INFORMATION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803148"/>
            <a:ext cx="10515600" cy="140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-7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만든 쪽보다</a:t>
            </a:r>
          </a:p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-7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쓴 쪽의 기여가 더 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2095500"/>
            <a:ext cx="533400" cy="28575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8200" y="2418874"/>
            <a:ext cx="66675" cy="66675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5850" y="2312860"/>
            <a:ext cx="4895850" cy="981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IT 자본재 가격이 떨어지며 투자가 급증했다.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수량 기준 1990~95년 연 11.5%, 1995~99년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연 19.4% 증가.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200" y="3428524"/>
            <a:ext cx="66675" cy="66675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5850" y="3322510"/>
            <a:ext cx="4895850" cy="981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생산성 기여도 증가분은 IT 생산부문 +0.17%p,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IT 활용부문 +0.83%p로 활용 쪽이 다섯 배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가까이 컸다 (Stiroh, 2002).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0800" y="1638300"/>
            <a:ext cx="4953000" cy="3619500"/>
          </a:xfrm>
          <a:prstGeom prst="rect">
            <a:avLst/>
          </a:prstGeom>
        </p:spPr>
      </p:pic>
      <p:cxnSp>
        <p:nvCxnSpPr>
          <p:cNvPr id="11" name="Connector 10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7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03 · 범용기술 확산의 역사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5802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45998"/>
            <a:ext cx="105156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-7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AI가 넘어야 할 세 가지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543050"/>
            <a:ext cx="533400" cy="28575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1779460"/>
            <a:ext cx="10515600" cy="714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지금의 AI는 주로 챗봇 형태로, 사무직·전문직 업무를 중심으로 쓰인다.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역사적으로 범용기술이 성장에 크게 기여한 시기는 생산공정에 본격적으로 쓰이기 시작한 이후였다.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2771775"/>
            <a:ext cx="10515600" cy="1809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8200" y="4926902"/>
            <a:ext cx="10515600" cy="638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여기에 더해, 초기 투자의 불확실성을 덜어 줄 </a:t>
            </a:r>
            <a:r>
              <a:rPr sz="1275" b="1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금융기법</a:t>
            </a:r>
            <a:r>
              <a:rPr sz="1275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도 필요하다 — 와트가 절감된 석탄 비용의 일부를</a:t>
            </a:r>
          </a:p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나눠 받는 성과연동 계약으로 증기기관을 팔았던 것처럼.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7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04 · 시사점과 결론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5802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2997FF"/>
                </a:solidFill>
                <a:latin typeface="Arial"/>
                <a:ea typeface="Malgun Gothic"/>
                <a:cs typeface="Arial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011680"/>
            <a:ext cx="9525000" cy="2038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5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spc="-6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혁신이 일부 기업이나 산업에 머무르지 않고</a:t>
            </a:r>
          </a:p>
          <a:p>
            <a:pPr algn="l">
              <a:lnSpc>
                <a:spcPts val="435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spc="-6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경제 전반에 걸쳐 확산될 때 비로소</a:t>
            </a:r>
          </a:p>
          <a:p>
            <a:pPr algn="l">
              <a:lnSpc>
                <a:spcPts val="435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spc="-60">
                <a:solidFill>
                  <a:srgbClr val="2997FF"/>
                </a:solidFill>
                <a:latin typeface="Arial"/>
                <a:ea typeface="Malgun Gothic"/>
                <a:cs typeface="Arial"/>
              </a:rPr>
              <a:t>AI의 거시적 성장효과가 실현된다.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4286250"/>
            <a:ext cx="419100" cy="19050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09700" y="4178618"/>
            <a:ext cx="7620000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한국은행 경제연구원 거시경제연구실 · 2026. 7. 28.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836986"/>
            <a:ext cx="105156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그 확산은 다양한 연관 기술의 개발과 조직혁신, 그리고 지속적인 유·무형자산 투자로 뒷받침된다.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3D3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75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04 · 시사점과 결론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5802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45998"/>
            <a:ext cx="105156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-7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자료 출처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543050"/>
            <a:ext cx="533400" cy="28575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1919097"/>
            <a:ext cx="5143500" cy="2209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원문 — 남충현(2026), 「AI의 미시적 효과가 거시적</a:t>
            </a:r>
          </a:p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성장으로 이어지려면? — 범용기술(GPT)의 역사에서</a:t>
            </a:r>
          </a:p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찾는 시사점」, BOK 경제연구 INSIGHT, 한국은행.</a:t>
            </a:r>
          </a:p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/>
            </a:r>
          </a:p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Acemoglu (2024), The Simple Macroeconomics of AI</a:t>
            </a:r>
          </a:p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Aghion &amp; Bunel (2025), AI and Growth: Where Do We Stand?</a:t>
            </a:r>
          </a:p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Brynjolfsson, Li &amp; Raymond (2025), Generative AI at Work</a:t>
            </a:r>
          </a:p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Peng et al. (2023), The Impact of AI on Developer Productivity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0300" y="1919097"/>
            <a:ext cx="5143500" cy="1952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Crafts (2004; 2021), Steam / AI as a General Purpose Technology</a:t>
            </a:r>
          </a:p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Devine (1983), From Shafts to Wires</a:t>
            </a:r>
          </a:p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Fiszbein et al. (2020), Powering Up Productivity</a:t>
            </a:r>
          </a:p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Stiroh (2002), Information Technology and the U.S. Productivity Revival</a:t>
            </a:r>
          </a:p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Jorgenson (2001), Information Technology and the U.S. Economy</a:t>
            </a:r>
          </a:p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Jones (2026), A.I. and Our Economic Future</a:t>
            </a:r>
          </a:p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오삼일 외(2025), 「AI와 한국경제」 · 서동현 외(2026)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38200" y="5334000"/>
            <a:ext cx="105156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38200" y="5495163"/>
            <a:ext cx="105156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디자인 — slides-reference-apple.html (Apple design language, Arial). 그래픽은 모두 SVG 벡터로 삽입.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7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부록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